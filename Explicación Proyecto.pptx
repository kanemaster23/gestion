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1037" r:id="rId2"/>
    <p:sldId id="1054" r:id="rId3"/>
    <p:sldId id="1040" r:id="rId4"/>
    <p:sldId id="1042" r:id="rId5"/>
    <p:sldId id="1045" r:id="rId6"/>
    <p:sldId id="1041" r:id="rId7"/>
    <p:sldId id="1055" r:id="rId8"/>
    <p:sldId id="1056" r:id="rId9"/>
    <p:sldId id="1057" r:id="rId10"/>
    <p:sldId id="1050" r:id="rId11"/>
    <p:sldId id="1058" r:id="rId12"/>
    <p:sldId id="1059" r:id="rId13"/>
    <p:sldId id="1060" r:id="rId14"/>
    <p:sldId id="1062" r:id="rId15"/>
    <p:sldId id="1061" r:id="rId16"/>
    <p:sldId id="1063" r:id="rId17"/>
    <p:sldId id="1064" r:id="rId18"/>
    <p:sldId id="1036" r:id="rId19"/>
    <p:sldId id="1065" r:id="rId20"/>
    <p:sldId id="1066" r:id="rId21"/>
    <p:sldId id="1067" r:id="rId22"/>
    <p:sldId id="1068" r:id="rId23"/>
    <p:sldId id="1039" r:id="rId24"/>
    <p:sldId id="1035" r:id="rId25"/>
  </p:sldIdLst>
  <p:sldSz cx="12192000" cy="6858000"/>
  <p:notesSz cx="6858000" cy="9144000"/>
  <p:defaultTextStyle>
    <a:defPPr>
      <a:defRPr lang="es-C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STAVO ADOLFO BAUTISTA GOMEZ" initials="GABG" lastIdx="1" clrIdx="0">
    <p:extLst>
      <p:ext uri="{19B8F6BF-5375-455C-9EA6-DF929625EA0E}">
        <p15:presenceInfo xmlns:p15="http://schemas.microsoft.com/office/powerpoint/2012/main" userId="S::gustavo.bautista@unipamplona.edu.co::8be4a882-e778-491a-a525-20e28ab7ecb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3333"/>
    <a:srgbClr val="173F5F"/>
    <a:srgbClr val="F4A261"/>
    <a:srgbClr val="E9C46A"/>
    <a:srgbClr val="E76F51"/>
    <a:srgbClr val="ED7D31"/>
    <a:srgbClr val="DAB041"/>
    <a:srgbClr val="BD9237"/>
    <a:srgbClr val="2A9D8F"/>
    <a:srgbClr val="F8F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3" autoAdjust="0"/>
    <p:restoredTop sz="94624" autoAdjust="0"/>
  </p:normalViewPr>
  <p:slideViewPr>
    <p:cSldViewPr snapToGrid="0">
      <p:cViewPr varScale="1">
        <p:scale>
          <a:sx n="96" d="100"/>
          <a:sy n="96" d="100"/>
        </p:scale>
        <p:origin x="82" y="106"/>
      </p:cViewPr>
      <p:guideLst>
        <p:guide orient="horz" pos="2205"/>
        <p:guide pos="386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963A18E5-A0D9-4DE9-8175-4714BA954D78}" type="datetimeFigureOut">
              <a:rPr lang="es-CO" altLang="es-CO"/>
              <a:pPr>
                <a:defRPr/>
              </a:pPr>
              <a:t>2/12/2025</a:t>
            </a:fld>
            <a:endParaRPr lang="es-CO" altLang="es-CO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 noProof="0"/>
              <a:t>Editar el estilo de texto del patrón</a:t>
            </a:r>
          </a:p>
          <a:p>
            <a:pPr lvl="1"/>
            <a:r>
              <a:rPr lang="es-ES" altLang="es-CO" noProof="0"/>
              <a:t>Segundo nivel</a:t>
            </a:r>
          </a:p>
          <a:p>
            <a:pPr lvl="2"/>
            <a:r>
              <a:rPr lang="es-ES" altLang="es-CO" noProof="0"/>
              <a:t>Tercer nivel</a:t>
            </a:r>
          </a:p>
          <a:p>
            <a:pPr lvl="3"/>
            <a:r>
              <a:rPr lang="es-ES" altLang="es-CO" noProof="0"/>
              <a:t>Cuarto nivel</a:t>
            </a:r>
          </a:p>
          <a:p>
            <a:pPr lvl="4"/>
            <a:r>
              <a:rPr lang="es-ES" altLang="es-CO" noProof="0"/>
              <a:t>Quinto nivel</a:t>
            </a:r>
            <a:endParaRPr lang="es-CO" altLang="es-CO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FC71C11-CB1F-4293-8B42-28E21BCA906D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23548729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709644"/>
            <a:ext cx="9144000" cy="1663447"/>
          </a:xfrm>
        </p:spPr>
        <p:txBody>
          <a:bodyPr>
            <a:normAutofit/>
          </a:bodyPr>
          <a:lstStyle>
            <a:lvl1pPr algn="ctr">
              <a:defRPr sz="4000" b="1">
                <a:solidFill>
                  <a:srgbClr val="AD3333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554909"/>
            <a:ext cx="9144000" cy="101054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2012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811" y="160027"/>
            <a:ext cx="10515600" cy="984562"/>
          </a:xfrm>
        </p:spPr>
        <p:txBody>
          <a:bodyPr anchor="t">
            <a:normAutofit/>
          </a:bodyPr>
          <a:lstStyle>
            <a:lvl1pPr>
              <a:defRPr sz="2400" b="1">
                <a:solidFill>
                  <a:srgbClr val="AD3333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33415" y="1304617"/>
            <a:ext cx="10925175" cy="5036362"/>
          </a:xfrm>
        </p:spPr>
        <p:txBody>
          <a:bodyPr/>
          <a:lstStyle>
            <a:lvl1pPr marL="0" indent="0">
              <a:buNone/>
              <a:defRPr>
                <a:latin typeface="+mn-lt"/>
                <a:cs typeface="Arial" panose="020B0604020202020204" pitchFamily="34" charset="0"/>
              </a:defRPr>
            </a:lvl1pPr>
            <a:lvl2pPr>
              <a:defRPr>
                <a:latin typeface="+mn-lt"/>
                <a:cs typeface="Arial" panose="020B0604020202020204" pitchFamily="34" charset="0"/>
              </a:defRPr>
            </a:lvl2pPr>
            <a:lvl3pPr>
              <a:defRPr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+mn-lt"/>
                <a:cs typeface="Arial" panose="020B0604020202020204" pitchFamily="34" charset="0"/>
              </a:defRPr>
            </a:lvl4pPr>
            <a:lvl5pPr>
              <a:defRPr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5635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05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49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C16E0-D039-44C8-8192-BDED2ABD827A}" type="datetimeFigureOut">
              <a:rPr lang="es-CO" altLang="es-CO"/>
              <a:pPr>
                <a:defRPr/>
              </a:pPr>
              <a:t>2/12/2025</a:t>
            </a:fld>
            <a:endParaRPr lang="es-CO" altLang="es-CO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3F9D22-3D66-4249-AA17-FD6741AF4098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3174218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00998-559D-4EBD-9347-6656379B4AEC}" type="datetimeFigureOut">
              <a:rPr lang="es-CO" altLang="es-CO"/>
              <a:pPr>
                <a:defRPr/>
              </a:pPr>
              <a:t>2/12/2025</a:t>
            </a:fld>
            <a:endParaRPr lang="es-CO" altLang="es-CO" dirty="0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1419D-0432-4585-A706-2226F93876C0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372170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ECEDC-06ED-4C7C-9B03-83046E1325F6}" type="datetimeFigureOut">
              <a:rPr lang="es-CO" altLang="es-CO"/>
              <a:pPr>
                <a:defRPr/>
              </a:pPr>
              <a:t>2/12/2025</a:t>
            </a:fld>
            <a:endParaRPr lang="es-CO" altLang="es-CO" dirty="0"/>
          </a:p>
        </p:txBody>
      </p:sp>
      <p:sp>
        <p:nvSpPr>
          <p:cNvPr id="8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470616-2E74-471E-AAEF-A4D337523D7F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2989303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BF25C1-17BB-4366-890E-F326F3BED209}" type="datetimeFigureOut">
              <a:rPr lang="es-CO" altLang="es-CO"/>
              <a:pPr>
                <a:defRPr/>
              </a:pPr>
              <a:t>2/12/2025</a:t>
            </a:fld>
            <a:endParaRPr lang="es-CO" altLang="es-CO" dirty="0"/>
          </a:p>
        </p:txBody>
      </p:sp>
      <p:sp>
        <p:nvSpPr>
          <p:cNvPr id="4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FE7D14-50C1-4B66-A5F4-D9657C158CA5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104833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9A324-A69E-4F9E-8265-9E809888D80A}" type="datetimeFigureOut">
              <a:rPr lang="es-CO" altLang="es-CO"/>
              <a:pPr>
                <a:defRPr/>
              </a:pPr>
              <a:t>2/12/2025</a:t>
            </a:fld>
            <a:endParaRPr lang="es-CO" altLang="es-CO" dirty="0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040C8-FB79-4E6D-A221-B9C004F27102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22948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0B7F63-9348-4FED-9EED-D818C16FCE77}" type="datetimeFigureOut">
              <a:rPr lang="es-CO" altLang="es-CO"/>
              <a:pPr>
                <a:defRPr/>
              </a:pPr>
              <a:t>2/12/2025</a:t>
            </a:fld>
            <a:endParaRPr lang="es-CO" altLang="es-CO" dirty="0"/>
          </a:p>
        </p:txBody>
      </p:sp>
      <p:sp>
        <p:nvSpPr>
          <p:cNvPr id="6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7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0772A-1E30-40C1-8DA4-4C4BD7994531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365709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DA6CB-D3E4-4B23-BD2C-29898E8E8D0A}" type="datetimeFigureOut">
              <a:rPr lang="es-CO" altLang="es-CO"/>
              <a:pPr>
                <a:defRPr/>
              </a:pPr>
              <a:t>2/12/2025</a:t>
            </a:fld>
            <a:endParaRPr lang="es-CO" altLang="es-CO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ED8EA2-5042-4875-A37A-6744D37E4262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2943602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97366A-F3A6-4CC4-B840-9EDE02E74CD2}" type="datetimeFigureOut">
              <a:rPr lang="es-CO" altLang="es-CO"/>
              <a:pPr>
                <a:defRPr/>
              </a:pPr>
              <a:t>2/12/2025</a:t>
            </a:fld>
            <a:endParaRPr lang="es-CO" altLang="es-CO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E0346-D625-4449-9F82-2DA76696FDB3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2791796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título del patrón</a:t>
            </a:r>
            <a:endParaRPr lang="es-CO" altLang="es-CO"/>
          </a:p>
        </p:txBody>
      </p:sp>
      <p:sp>
        <p:nvSpPr>
          <p:cNvPr id="1027" name="Marcador de tex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Editar el estilo de texto del patrón</a:t>
            </a:r>
          </a:p>
          <a:p>
            <a:pPr lvl="1"/>
            <a:r>
              <a:rPr lang="es-ES" altLang="es-CO"/>
              <a:t>Segundo nivel</a:t>
            </a:r>
          </a:p>
          <a:p>
            <a:pPr lvl="2"/>
            <a:r>
              <a:rPr lang="es-ES" altLang="es-CO"/>
              <a:t>Tercer nivel</a:t>
            </a:r>
          </a:p>
          <a:p>
            <a:pPr lvl="3"/>
            <a:r>
              <a:rPr lang="es-ES" altLang="es-CO"/>
              <a:t>Cuarto nivel</a:t>
            </a:r>
          </a:p>
          <a:p>
            <a:pPr lvl="4"/>
            <a:r>
              <a:rPr lang="es-ES" altLang="es-CO"/>
              <a:t>Quinto nivel</a:t>
            </a:r>
            <a:endParaRPr lang="es-CO" alt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3F7A46F-03D8-4E44-98A7-21D921D8A9B6}" type="datetimeFigureOut">
              <a:rPr lang="es-CO" altLang="es-CO"/>
              <a:pPr>
                <a:defRPr/>
              </a:pPr>
              <a:t>2/12/2025</a:t>
            </a:fld>
            <a:endParaRPr lang="es-CO" altLang="es-CO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s-CO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5FBB4E2-C74A-4947-B3B8-AA5F80113A4E}" type="slidenum">
              <a:rPr lang="es-CO" altLang="es-CO"/>
              <a:pPr>
                <a:defRPr/>
              </a:pPr>
              <a:t>‹Nº›</a:t>
            </a:fld>
            <a:endParaRPr lang="es-CO" altLang="es-CO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1" r:id="rId3"/>
    <p:sldLayoutId id="2147483987" r:id="rId4"/>
    <p:sldLayoutId id="2147483988" r:id="rId5"/>
    <p:sldLayoutId id="2147483989" r:id="rId6"/>
    <p:sldLayoutId id="2147483990" r:id="rId7"/>
    <p:sldLayoutId id="2147483992" r:id="rId8"/>
    <p:sldLayoutId id="2147483993" r:id="rId9"/>
    <p:sldLayoutId id="2147483994" r:id="rId10"/>
    <p:sldLayoutId id="214748399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  <a:ea typeface="MS PGothic" panose="020B0600070205080204" pitchFamily="34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  <a:ea typeface="MS PGothic" panose="020B0600070205080204" pitchFamily="34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  <a:ea typeface="MS PGothic" panose="020B0600070205080204" pitchFamily="34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  <a:ea typeface="MS PGothic" panose="020B0600070205080204" pitchFamily="34" charset="-128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4.xml"/><Relationship Id="rId7" Type="http://schemas.openxmlformats.org/officeDocument/2006/relationships/slide" Target="slide1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slide" Target="slide23.xml"/><Relationship Id="rId5" Type="http://schemas.openxmlformats.org/officeDocument/2006/relationships/slide" Target="slide6.xml"/><Relationship Id="rId10" Type="http://schemas.openxmlformats.org/officeDocument/2006/relationships/slide" Target="slide22.xml"/><Relationship Id="rId4" Type="http://schemas.openxmlformats.org/officeDocument/2006/relationships/slide" Target="slide5.xml"/><Relationship Id="rId9" Type="http://schemas.openxmlformats.org/officeDocument/2006/relationships/slide" Target="slide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render.com/pricing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0" y="2025476"/>
            <a:ext cx="12191999" cy="719356"/>
          </a:xfrm>
        </p:spPr>
        <p:txBody>
          <a:bodyPr>
            <a:noAutofit/>
          </a:bodyPr>
          <a:lstStyle/>
          <a:p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Gestión de Proyectos</a:t>
            </a:r>
            <a:endParaRPr lang="es-CO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0" y="3326296"/>
            <a:ext cx="12192000" cy="2091032"/>
          </a:xfrm>
        </p:spPr>
        <p:txBody>
          <a:bodyPr/>
          <a:lstStyle/>
          <a:p>
            <a:r>
              <a:rPr lang="es-ES" dirty="0">
                <a:cs typeface="Times New Roman" panose="02020603050405020304" pitchFamily="18" charset="0"/>
              </a:rPr>
              <a:t>Integrantes:</a:t>
            </a:r>
          </a:p>
          <a:p>
            <a:r>
              <a:rPr lang="es-CO" dirty="0">
                <a:cs typeface="Times New Roman" panose="02020603050405020304" pitchFamily="18" charset="0"/>
              </a:rPr>
              <a:t>Joshua Carrascal – 1005183109</a:t>
            </a:r>
          </a:p>
          <a:p>
            <a:r>
              <a:rPr lang="es-CO" dirty="0" err="1">
                <a:cs typeface="Times New Roman" panose="02020603050405020304" pitchFamily="18" charset="0"/>
              </a:rPr>
              <a:t>Jhon</a:t>
            </a:r>
            <a:r>
              <a:rPr lang="es-CO" dirty="0">
                <a:cs typeface="Times New Roman" panose="02020603050405020304" pitchFamily="18" charset="0"/>
              </a:rPr>
              <a:t> Duque - 1116776291</a:t>
            </a:r>
          </a:p>
          <a:p>
            <a:endParaRPr lang="es-CO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CO" dirty="0"/>
          </a:p>
          <a:p>
            <a:endParaRPr lang="es-CO" dirty="0"/>
          </a:p>
        </p:txBody>
      </p:sp>
      <p:sp>
        <p:nvSpPr>
          <p:cNvPr id="10" name="1 CuadroTexto">
            <a:extLst>
              <a:ext uri="{FF2B5EF4-FFF2-40B4-BE49-F238E27FC236}">
                <a16:creationId xmlns:a16="http://schemas.microsoft.com/office/drawing/2014/main" id="{FE39E758-4D19-41DF-BF83-BB61704D3852}"/>
              </a:ext>
            </a:extLst>
          </p:cNvPr>
          <p:cNvSpPr txBox="1"/>
          <p:nvPr/>
        </p:nvSpPr>
        <p:spPr>
          <a:xfrm>
            <a:off x="0" y="555673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>
                <a:solidFill>
                  <a:srgbClr val="AD3333"/>
                </a:solidFill>
              </a:rPr>
              <a:t>XVIII </a:t>
            </a:r>
            <a:r>
              <a:rPr lang="es-CO" sz="2200" b="1" dirty="0"/>
              <a:t>Congreso Internacional de Electrónica y Tecnologías de Avanzada</a:t>
            </a:r>
            <a:endParaRPr lang="es-CO" sz="2200" dirty="0"/>
          </a:p>
          <a:p>
            <a:endParaRPr lang="es-CO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205603D-7A8E-4936-8DDE-0B48876B1318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552884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4B0AA-F92B-3A3B-17FC-040BCEF4B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000" dirty="0"/>
              <a:t>Tabla de contenido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536A547-4521-4327-9770-D3566494FD5F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BF45966-49B4-4B09-8601-B04FA03C50C9}"/>
              </a:ext>
            </a:extLst>
          </p:cNvPr>
          <p:cNvSpPr/>
          <p:nvPr/>
        </p:nvSpPr>
        <p:spPr>
          <a:xfrm>
            <a:off x="4207565" y="1271346"/>
            <a:ext cx="3776869" cy="43153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chemeClr val="tx1"/>
                </a:solidFill>
                <a:hlinkClick r:id="rId2" action="ppaction://hlinksldjump"/>
              </a:rPr>
              <a:t>Introducción</a:t>
            </a:r>
            <a:r>
              <a:rPr lang="es-CO" b="1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tx1"/>
                </a:solidFill>
                <a:hlinkClick r:id="rId3" action="ppaction://hlinksldjump"/>
              </a:rPr>
              <a:t>Planteamiento del problema</a:t>
            </a:r>
            <a:r>
              <a:rPr lang="es-ES" b="1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chemeClr val="tx1"/>
                </a:solidFill>
                <a:hlinkClick r:id="rId4" action="ppaction://hlinksldjump"/>
              </a:rPr>
              <a:t>Justificación</a:t>
            </a:r>
            <a:r>
              <a:rPr lang="es-CO" b="1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chemeClr val="tx1"/>
                </a:solidFill>
                <a:hlinkClick r:id="rId5" action="ppaction://hlinksldjump"/>
              </a:rPr>
              <a:t>Metodología</a:t>
            </a:r>
            <a:r>
              <a:rPr lang="es-CO" b="1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chemeClr val="tx1"/>
                </a:solidFill>
                <a:hlinkClick r:id="rId6" action="ppaction://hlinksldjump"/>
              </a:rPr>
              <a:t>Diagramas</a:t>
            </a:r>
            <a:r>
              <a:rPr lang="es-CO" b="1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chemeClr val="tx1"/>
                </a:solidFill>
                <a:hlinkClick r:id="rId7" action="ppaction://hlinksldjump"/>
              </a:rPr>
              <a:t>Resultados</a:t>
            </a:r>
            <a:r>
              <a:rPr lang="es-CO" b="1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tx1"/>
                </a:solidFill>
                <a:hlinkClick r:id="rId8" action="ppaction://hlinksldjump"/>
              </a:rPr>
              <a:t>Presupuesto del Proyecto y Oferta Comercial</a:t>
            </a:r>
            <a:r>
              <a:rPr lang="es-ES" b="1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tx1"/>
                </a:solidFill>
                <a:hlinkClick r:id="rId9" action="ppaction://hlinksldjump"/>
              </a:rPr>
              <a:t>Desarrollo por Sprints (Scrum)</a:t>
            </a:r>
            <a:endParaRPr lang="es-ES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tx1"/>
                </a:solidFill>
                <a:hlinkClick r:id="rId10" action="ppaction://hlinksldjump"/>
              </a:rPr>
              <a:t>Conclusiones</a:t>
            </a:r>
            <a:endParaRPr lang="es-ES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chemeClr val="tx1"/>
                </a:solidFill>
                <a:hlinkClick r:id="rId11" action="ppaction://hlinksldjump"/>
              </a:rPr>
              <a:t>Referencias</a:t>
            </a:r>
            <a:endParaRPr lang="es-CO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b="1" dirty="0">
              <a:solidFill>
                <a:schemeClr val="tx1"/>
              </a:solidFill>
            </a:endParaRPr>
          </a:p>
          <a:p>
            <a:pPr lvl="0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1465912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B8925-0D0A-4C83-830F-028BD53A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000" dirty="0"/>
              <a:t>1. Introducción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9403CA2-20AC-4529-A739-4F655244FCDC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3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F30863C-A0D3-4321-B7A7-9B756055E835}"/>
              </a:ext>
            </a:extLst>
          </p:cNvPr>
          <p:cNvSpPr txBox="1"/>
          <p:nvPr/>
        </p:nvSpPr>
        <p:spPr>
          <a:xfrm>
            <a:off x="469231" y="961709"/>
            <a:ext cx="10352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Este proyecto propone una plataforma web para la gestión de proyectos y tareas orientada a pequeñas empresas o equipos de trabajo colaborativo. Busca facilitar el seguimiento de objetivos, plazos, asignaciones y avances a través de un entorno intuitivo, seguro y accesible.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5103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18A2F-7C99-40ED-A8A7-627BC1EE8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811" y="233919"/>
            <a:ext cx="10515600" cy="984562"/>
          </a:xfrm>
        </p:spPr>
        <p:txBody>
          <a:bodyPr>
            <a:normAutofit/>
          </a:bodyPr>
          <a:lstStyle/>
          <a:p>
            <a:r>
              <a:rPr lang="es-ES" sz="3000" dirty="0"/>
              <a:t>2. Planteamiento del problema</a:t>
            </a:r>
            <a:endParaRPr lang="es-CO" sz="30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5ADE8DA-0EC8-4B21-9BEE-844C028A2263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4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F856996-3F35-4E61-B6F3-2E6A17798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Las empresas que no cuentan con una plataforma centralizada para la gestión de tareas enfrentan problemas como:</a:t>
            </a:r>
          </a:p>
          <a:p>
            <a:endParaRPr lang="es-ES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dirty="0"/>
              <a:t>Desorganización en los proyectos.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dirty="0"/>
              <a:t>Falta de trazabilidad y seguimiento.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dirty="0"/>
              <a:t>Problemas de comunicación interna.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dirty="0"/>
              <a:t>Riesgos de seguridad (mala gestión de credenciales y usuarios).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88475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1EFF6-2F64-4A5C-AE0C-201791FD0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3. Justificación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5EF16C1-90A4-478A-8375-841EF0BD7071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5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AD3C8D6-2C21-40CC-A71B-5D8FE9D19579}"/>
              </a:ext>
            </a:extLst>
          </p:cNvPr>
          <p:cNvSpPr txBox="1"/>
          <p:nvPr/>
        </p:nvSpPr>
        <p:spPr>
          <a:xfrm>
            <a:off x="469231" y="1144587"/>
            <a:ext cx="1033659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El desarrollo de esta solución aporta:</a:t>
            </a:r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Una plataforma web funcional, segura y personalizable.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Mejora de la productividad mediante una gestión estructurada.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Interfaces amigables con autenticación 2FA y sesiones seguras.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Herramientas adaptables a futuros módulos empresariales.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007329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30AC2-CD75-4529-B65A-B5FD490E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4. Metodología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A779A73-3B39-4BCF-81E6-C00300476E9D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6</a:t>
            </a:r>
            <a:endParaRPr lang="es-419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CDCC81-B3BB-4D25-A2CF-1BC2F962A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12" y="763928"/>
            <a:ext cx="10925175" cy="5036362"/>
          </a:xfrm>
        </p:spPr>
        <p:txBody>
          <a:bodyPr/>
          <a:lstStyle/>
          <a:p>
            <a:r>
              <a:rPr lang="es-ES" sz="2400" dirty="0"/>
              <a:t>Modelo elegido: Metodología en Cascada</a:t>
            </a:r>
          </a:p>
          <a:p>
            <a:pPr algn="just"/>
            <a:r>
              <a:rPr lang="es-ES" sz="2400" dirty="0"/>
              <a:t>La metodología en cascada es un modelo de desarrollo lineal, donde cada etapa debe completarse antes de pasar a la siguiente. Se adapta bien a proyectos con requisitos bien definidos, como este.</a:t>
            </a:r>
          </a:p>
          <a:p>
            <a:r>
              <a:rPr lang="es-ES" sz="2400" dirty="0"/>
              <a:t>Etapas aplicadas:</a:t>
            </a:r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Análisis de requerimientos funcionales y no funcionales.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Diseño de arquitectura (</a:t>
            </a:r>
            <a:r>
              <a:rPr lang="es-ES" sz="2400" dirty="0" err="1"/>
              <a:t>backend</a:t>
            </a:r>
            <a:r>
              <a:rPr lang="es-ES" sz="2400" dirty="0"/>
              <a:t> en Django, frontend con HTML/CSS/JS).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Desarrollo por módulos: autenticación, gestión de proyectos, gestión de tareas.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Pruebas manuales e implementación en Render.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Entrega final y documentación.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887992179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30AC2-CD75-4529-B65A-B5FD490E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4.1 Diagramas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A779A73-3B39-4BCF-81E6-C00300476E9D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7</a:t>
            </a:r>
            <a:endParaRPr lang="es-419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7941364-833F-41AB-8B6C-3D14EC1859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367" y="1403064"/>
            <a:ext cx="6951265" cy="487742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4DD5440E-2AB4-4F30-ADBF-B47D67D6C674}"/>
              </a:ext>
            </a:extLst>
          </p:cNvPr>
          <p:cNvSpPr txBox="1">
            <a:spLocks/>
          </p:cNvSpPr>
          <p:nvPr/>
        </p:nvSpPr>
        <p:spPr bwMode="auto">
          <a:xfrm>
            <a:off x="4561208" y="859788"/>
            <a:ext cx="2579308" cy="37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AD3333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  <a:ea typeface="MS PGothic" panose="020B0600070205080204" pitchFamily="34" charset="-128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  <a:ea typeface="MS PGothic" panose="020B0600070205080204" pitchFamily="34" charset="-128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  <a:ea typeface="MS PGothic" panose="020B0600070205080204" pitchFamily="34" charset="-128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  <a:ea typeface="MS PGothic" panose="020B0600070205080204" pitchFamily="34" charset="-128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</a:defRPr>
            </a:lvl9pPr>
          </a:lstStyle>
          <a:p>
            <a:r>
              <a:rPr lang="es-CO" dirty="0"/>
              <a:t>Diagrama de Clases </a:t>
            </a:r>
          </a:p>
        </p:txBody>
      </p:sp>
    </p:spTree>
    <p:extLst>
      <p:ext uri="{BB962C8B-B14F-4D97-AF65-F5344CB8AC3E}">
        <p14:creationId xmlns:p14="http://schemas.microsoft.com/office/powerpoint/2010/main" val="2179046948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30AC2-CD75-4529-B65A-B5FD490E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4.1.2 Diagramas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A779A73-3B39-4BCF-81E6-C00300476E9D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8</a:t>
            </a:r>
            <a:endParaRPr lang="es-419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212C1F0-201B-4A96-910D-EFC3E8469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820" y="1243347"/>
            <a:ext cx="6878600" cy="5037137"/>
          </a:xfr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8358B4AC-456B-4A75-A0B3-8C365A253E1C}"/>
              </a:ext>
            </a:extLst>
          </p:cNvPr>
          <p:cNvSpPr txBox="1">
            <a:spLocks/>
          </p:cNvSpPr>
          <p:nvPr/>
        </p:nvSpPr>
        <p:spPr bwMode="auto">
          <a:xfrm>
            <a:off x="3497651" y="773822"/>
            <a:ext cx="4668339" cy="37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62500" lnSpcReduction="20000"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AD3333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  <a:ea typeface="MS PGothic" panose="020B0600070205080204" pitchFamily="34" charset="-128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  <a:ea typeface="MS PGothic" panose="020B0600070205080204" pitchFamily="34" charset="-128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  <a:ea typeface="MS PGothic" panose="020B0600070205080204" pitchFamily="34" charset="-128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  <a:ea typeface="MS PGothic" panose="020B0600070205080204" pitchFamily="34" charset="-128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</a:defRPr>
            </a:lvl9pPr>
          </a:lstStyle>
          <a:p>
            <a:r>
              <a:rPr lang="es-CO" dirty="0"/>
              <a:t>Diagrama de Secuencia para Registro y Autenticación</a:t>
            </a:r>
          </a:p>
        </p:txBody>
      </p:sp>
    </p:spTree>
    <p:extLst>
      <p:ext uri="{BB962C8B-B14F-4D97-AF65-F5344CB8AC3E}">
        <p14:creationId xmlns:p14="http://schemas.microsoft.com/office/powerpoint/2010/main" val="1643224612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30AC2-CD75-4529-B65A-B5FD490E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4.1.3 Diagramas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A779A73-3B39-4BCF-81E6-C00300476E9D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9</a:t>
            </a:r>
            <a:endParaRPr lang="es-419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358B4AC-456B-4A75-A0B3-8C365A253E1C}"/>
              </a:ext>
            </a:extLst>
          </p:cNvPr>
          <p:cNvSpPr txBox="1">
            <a:spLocks/>
          </p:cNvSpPr>
          <p:nvPr/>
        </p:nvSpPr>
        <p:spPr bwMode="auto">
          <a:xfrm>
            <a:off x="348934" y="773822"/>
            <a:ext cx="4668339" cy="37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AD3333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  <a:ea typeface="MS PGothic" panose="020B0600070205080204" pitchFamily="34" charset="-128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  <a:ea typeface="MS PGothic" panose="020B0600070205080204" pitchFamily="34" charset="-128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  <a:ea typeface="MS PGothic" panose="020B0600070205080204" pitchFamily="34" charset="-128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  <a:ea typeface="MS PGothic" panose="020B0600070205080204" pitchFamily="34" charset="-128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</a:defRPr>
            </a:lvl9pPr>
          </a:lstStyle>
          <a:p>
            <a:r>
              <a:rPr lang="es-CO" dirty="0"/>
              <a:t>Diagrama de Secuencia para Gestión de Proyectos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A8DE422-BD43-4AD0-A2B0-708AB2FCCDFF}"/>
              </a:ext>
            </a:extLst>
          </p:cNvPr>
          <p:cNvSpPr txBox="1">
            <a:spLocks/>
          </p:cNvSpPr>
          <p:nvPr/>
        </p:nvSpPr>
        <p:spPr bwMode="auto">
          <a:xfrm>
            <a:off x="5940026" y="773821"/>
            <a:ext cx="4668339" cy="37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AD3333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  <a:ea typeface="MS PGothic" panose="020B0600070205080204" pitchFamily="34" charset="-128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  <a:ea typeface="MS PGothic" panose="020B0600070205080204" pitchFamily="34" charset="-128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  <a:ea typeface="MS PGothic" panose="020B0600070205080204" pitchFamily="34" charset="-128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  <a:ea typeface="MS PGothic" panose="020B0600070205080204" pitchFamily="34" charset="-128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/>
              </a:defRPr>
            </a:lvl9pPr>
          </a:lstStyle>
          <a:p>
            <a:r>
              <a:rPr lang="es-CO" dirty="0"/>
              <a:t>Diagrama de Secuencia para Gestión de Tareas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AED1CAB1-2403-42AA-A47C-A5666366BC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" y="1193968"/>
            <a:ext cx="5199301" cy="3807402"/>
          </a:xfr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CECDF17-2444-40AE-909A-1D7032F61B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514" y="1312840"/>
            <a:ext cx="5319286" cy="389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71246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203E1-B028-47B9-B1A2-F542A8BEB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RESULTADOS 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FC6896D-4E0B-4ECD-A1D7-0B0CC2CEC980}"/>
              </a:ext>
            </a:extLst>
          </p:cNvPr>
          <p:cNvSpPr txBox="1">
            <a:spLocks/>
          </p:cNvSpPr>
          <p:nvPr/>
        </p:nvSpPr>
        <p:spPr bwMode="auto">
          <a:xfrm>
            <a:off x="1686355" y="5683839"/>
            <a:ext cx="9185697" cy="55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2000" b="1" dirty="0"/>
              <a:t>Fig. 1. Página principal (Inicio)</a:t>
            </a:r>
          </a:p>
          <a:p>
            <a:pPr algn="ctr"/>
            <a:endParaRPr lang="es-CO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602FFA1-7176-410B-8220-0227D61A07F1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10</a:t>
            </a:r>
            <a:endParaRPr lang="es-419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52F8C6C-F314-4CD8-B238-F6BFA0D32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916" y="866292"/>
            <a:ext cx="8550168" cy="452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564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203E1-B028-47B9-B1A2-F542A8BEB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RESULTADOS 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FC6896D-4E0B-4ECD-A1D7-0B0CC2CEC980}"/>
              </a:ext>
            </a:extLst>
          </p:cNvPr>
          <p:cNvSpPr txBox="1">
            <a:spLocks/>
          </p:cNvSpPr>
          <p:nvPr/>
        </p:nvSpPr>
        <p:spPr bwMode="auto">
          <a:xfrm>
            <a:off x="1686355" y="5683839"/>
            <a:ext cx="9185697" cy="55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2000" b="1" dirty="0"/>
              <a:t>Fig. 2. Página de Registro</a:t>
            </a:r>
          </a:p>
          <a:p>
            <a:pPr algn="ctr"/>
            <a:endParaRPr lang="es-CO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602FFA1-7176-410B-8220-0227D61A07F1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11</a:t>
            </a:r>
            <a:endParaRPr lang="es-419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7D415A4-DA0D-4746-9449-00AE7CE89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90" y="1144589"/>
            <a:ext cx="7823019" cy="409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118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203E1-B028-47B9-B1A2-F542A8BEB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RESULTADOS 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FC6896D-4E0B-4ECD-A1D7-0B0CC2CEC980}"/>
              </a:ext>
            </a:extLst>
          </p:cNvPr>
          <p:cNvSpPr txBox="1">
            <a:spLocks/>
          </p:cNvSpPr>
          <p:nvPr/>
        </p:nvSpPr>
        <p:spPr bwMode="auto">
          <a:xfrm>
            <a:off x="1686355" y="5683839"/>
            <a:ext cx="9185697" cy="55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2000" b="1" dirty="0"/>
              <a:t>Fig. 3. Página de Registro Exitoso</a:t>
            </a:r>
          </a:p>
          <a:p>
            <a:pPr algn="ctr"/>
            <a:endParaRPr lang="es-CO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602FFA1-7176-410B-8220-0227D61A07F1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12</a:t>
            </a:r>
            <a:endParaRPr lang="es-419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9455144-D345-4FF8-82D3-741D6D607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477" y="845773"/>
            <a:ext cx="8495046" cy="447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4536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203E1-B028-47B9-B1A2-F542A8BEB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RESULTADOS 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FC6896D-4E0B-4ECD-A1D7-0B0CC2CEC980}"/>
              </a:ext>
            </a:extLst>
          </p:cNvPr>
          <p:cNvSpPr txBox="1">
            <a:spLocks/>
          </p:cNvSpPr>
          <p:nvPr/>
        </p:nvSpPr>
        <p:spPr bwMode="auto">
          <a:xfrm>
            <a:off x="1686355" y="5683839"/>
            <a:ext cx="9185697" cy="55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2000" b="1" dirty="0"/>
              <a:t>Fig. 4. Página de Inicio de Sesión (</a:t>
            </a:r>
            <a:r>
              <a:rPr lang="es-CO" sz="2000" b="1" dirty="0" err="1"/>
              <a:t>Login</a:t>
            </a:r>
            <a:r>
              <a:rPr lang="es-CO" sz="2000" b="1" dirty="0"/>
              <a:t>)</a:t>
            </a:r>
          </a:p>
          <a:p>
            <a:pPr algn="ctr"/>
            <a:endParaRPr lang="es-CO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602FFA1-7176-410B-8220-0227D61A07F1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13</a:t>
            </a:r>
            <a:endParaRPr lang="es-419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70F1DC2-BD32-43FF-BD53-B890E4981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480" y="985563"/>
            <a:ext cx="8321040" cy="437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61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203E1-B028-47B9-B1A2-F542A8BEB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RESULTADOS 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FC6896D-4E0B-4ECD-A1D7-0B0CC2CEC980}"/>
              </a:ext>
            </a:extLst>
          </p:cNvPr>
          <p:cNvSpPr txBox="1">
            <a:spLocks/>
          </p:cNvSpPr>
          <p:nvPr/>
        </p:nvSpPr>
        <p:spPr bwMode="auto">
          <a:xfrm>
            <a:off x="1686355" y="5683839"/>
            <a:ext cx="9185697" cy="55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2000" b="1" dirty="0"/>
              <a:t>Fig. 6. Página de doble verificación</a:t>
            </a:r>
          </a:p>
          <a:p>
            <a:pPr algn="ctr"/>
            <a:endParaRPr lang="es-CO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602FFA1-7176-410B-8220-0227D61A07F1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14</a:t>
            </a:r>
            <a:endParaRPr lang="es-419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3A9F9FD-C37D-4958-B6BC-5F2A7D0A6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629" y="873214"/>
            <a:ext cx="8478741" cy="442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2628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203E1-B028-47B9-B1A2-F542A8BEB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RESULTADOS 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FC6896D-4E0B-4ECD-A1D7-0B0CC2CEC980}"/>
              </a:ext>
            </a:extLst>
          </p:cNvPr>
          <p:cNvSpPr txBox="1">
            <a:spLocks/>
          </p:cNvSpPr>
          <p:nvPr/>
        </p:nvSpPr>
        <p:spPr bwMode="auto">
          <a:xfrm>
            <a:off x="1686355" y="5683839"/>
            <a:ext cx="9185697" cy="55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2000" b="1" dirty="0"/>
              <a:t>Fig. 5. Página Inicio de Sesión Exitoso</a:t>
            </a:r>
          </a:p>
          <a:p>
            <a:pPr algn="ctr"/>
            <a:endParaRPr lang="es-CO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602FFA1-7176-410B-8220-0227D61A07F1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15</a:t>
            </a:r>
            <a:endParaRPr lang="es-419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0B99703-6BF8-441B-9551-7DEF9A8E5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E2F2446-359D-4DB5-BF1E-9EBEB2621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807" y="850390"/>
            <a:ext cx="8276385" cy="434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6783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203E1-B028-47B9-B1A2-F542A8BEB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RESULTADOS 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FC6896D-4E0B-4ECD-A1D7-0B0CC2CEC980}"/>
              </a:ext>
            </a:extLst>
          </p:cNvPr>
          <p:cNvSpPr txBox="1">
            <a:spLocks/>
          </p:cNvSpPr>
          <p:nvPr/>
        </p:nvSpPr>
        <p:spPr bwMode="auto">
          <a:xfrm>
            <a:off x="1686355" y="5683839"/>
            <a:ext cx="9185697" cy="55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2000" b="1" dirty="0"/>
              <a:t>Fig. 7. Página de Gestión de Proyectos con usuario registrado</a:t>
            </a:r>
          </a:p>
          <a:p>
            <a:pPr algn="ctr"/>
            <a:endParaRPr lang="es-CO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602FFA1-7176-410B-8220-0227D61A07F1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16</a:t>
            </a:r>
            <a:endParaRPr lang="es-419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E3433D1-3D84-44A9-BF4B-D14C01690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068" y="783734"/>
            <a:ext cx="8621864" cy="452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172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203E1-B028-47B9-B1A2-F542A8BEB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RESULTADOS 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FC6896D-4E0B-4ECD-A1D7-0B0CC2CEC980}"/>
              </a:ext>
            </a:extLst>
          </p:cNvPr>
          <p:cNvSpPr txBox="1">
            <a:spLocks/>
          </p:cNvSpPr>
          <p:nvPr/>
        </p:nvSpPr>
        <p:spPr bwMode="auto">
          <a:xfrm>
            <a:off x="1686355" y="5683839"/>
            <a:ext cx="9185697" cy="55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2000" b="1" dirty="0"/>
              <a:t>Fig. 8. Página “Sobre Nosotros”</a:t>
            </a:r>
          </a:p>
          <a:p>
            <a:pPr algn="ctr"/>
            <a:endParaRPr lang="es-CO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602FFA1-7176-410B-8220-0227D61A07F1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17</a:t>
            </a:r>
            <a:endParaRPr lang="es-419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7EDABFC-F32F-4089-ADA4-9D703A897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396" y="859472"/>
            <a:ext cx="8729207" cy="461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4996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Presupuesto del Proyecto y Oferta Comercial</a:t>
            </a:r>
            <a:endParaRPr lang="es-CO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7AC94B9-DD9C-40C6-AE60-A1842025A2B3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18</a:t>
            </a:r>
            <a:endParaRPr lang="es-419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B220B72-13DA-48E9-A723-2530E6166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259147"/>
              </p:ext>
            </p:extLst>
          </p:nvPr>
        </p:nvGraphicFramePr>
        <p:xfrm>
          <a:off x="838200" y="1655860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766216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790430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57196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O"/>
                        <a:t>Concepto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Plan Professional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Plan Organization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0713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Costo mensual Render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$19 USD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$29 USD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1174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 dirty="0"/>
                        <a:t>Costo anual Render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$228 USD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$348 USD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865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Costo de desarrollo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$2,000 USD (único pago)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$2,000 USD (único pago)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9237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Mantenimiento mensual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$30 USD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$45 USD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2269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Costo de mantenimiento anual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$360 USD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/>
                        <a:t>$540 USD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409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O" b="1"/>
                        <a:t>Total primer año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/>
                        <a:t>$2,588 USD</a:t>
                      </a:r>
                      <a:endParaRPr lang="es-C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b="1" dirty="0"/>
                        <a:t>$2,888 USD</a:t>
                      </a:r>
                      <a:endParaRPr lang="es-CO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4539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6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811" y="160027"/>
            <a:ext cx="10515600" cy="577516"/>
          </a:xfrm>
        </p:spPr>
        <p:txBody>
          <a:bodyPr/>
          <a:lstStyle/>
          <a:p>
            <a:r>
              <a:rPr lang="es-ES" dirty="0"/>
              <a:t>Presupuesto del Proyecto y Oferta Comercial</a:t>
            </a:r>
            <a:endParaRPr lang="es-CO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7AC94B9-DD9C-40C6-AE60-A1842025A2B3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19</a:t>
            </a:r>
            <a:endParaRPr lang="es-419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E3B5A1E-76D1-494B-86E4-4621DD98AA9C}"/>
              </a:ext>
            </a:extLst>
          </p:cNvPr>
          <p:cNvSpPr txBox="1"/>
          <p:nvPr/>
        </p:nvSpPr>
        <p:spPr>
          <a:xfrm>
            <a:off x="469231" y="719712"/>
            <a:ext cx="10515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Justificación de Costos</a:t>
            </a:r>
          </a:p>
          <a:p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Plan Render:</a:t>
            </a:r>
            <a:br>
              <a:rPr lang="es-ES" dirty="0"/>
            </a:br>
            <a:r>
              <a:rPr lang="es-ES" dirty="0"/>
              <a:t>Se escoge </a:t>
            </a:r>
            <a:r>
              <a:rPr lang="es-ES" i="1" dirty="0"/>
              <a:t>Professional</a:t>
            </a:r>
            <a:r>
              <a:rPr lang="es-ES" dirty="0"/>
              <a:t> para pequeñas empresas y </a:t>
            </a:r>
            <a:r>
              <a:rPr lang="es-ES" i="1" dirty="0"/>
              <a:t>Organization</a:t>
            </a:r>
            <a:r>
              <a:rPr lang="es-ES" dirty="0"/>
              <a:t> para medianas o de mayor tráfico.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Costo de desarrollo ($2,000 USD):</a:t>
            </a:r>
            <a:br>
              <a:rPr lang="es-ES" dirty="0"/>
            </a:br>
            <a:r>
              <a:rPr lang="es-ES" dirty="0"/>
              <a:t>Incluye diseño, programación, pruebas y despliegue. Se estima un total de 160 horas de trabajo a $12.5 USD/hora como tarifa freelance media para proyectos web educativos o de gestión (referencia: </a:t>
            </a:r>
            <a:r>
              <a:rPr lang="es-ES" dirty="0" err="1"/>
              <a:t>Upwork</a:t>
            </a:r>
            <a:r>
              <a:rPr lang="es-ES" dirty="0"/>
              <a:t> &amp; FreeLancer tarifas base).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Mantenimiento mensual:</a:t>
            </a:r>
            <a:br>
              <a:rPr lang="es-ES" dirty="0"/>
            </a:br>
            <a:r>
              <a:rPr lang="es-ES" dirty="0"/>
              <a:t>Cubre soporte técnico, ajustes menores, actualizaciones de seguridad y revisión periódica del servidor.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i="1" dirty="0"/>
              <a:t>Professional</a:t>
            </a:r>
            <a:r>
              <a:rPr lang="es-ES" dirty="0"/>
              <a:t>: $30 USD/mes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i="1" dirty="0"/>
              <a:t>Organization</a:t>
            </a:r>
            <a:r>
              <a:rPr lang="es-ES" dirty="0"/>
              <a:t>: $45 USD/mes (por mayor demanda y tráfico)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A9E9477-55C4-4A15-8434-80EDB91CEDD8}"/>
              </a:ext>
            </a:extLst>
          </p:cNvPr>
          <p:cNvSpPr txBox="1"/>
          <p:nvPr/>
        </p:nvSpPr>
        <p:spPr>
          <a:xfrm>
            <a:off x="4333565" y="4710824"/>
            <a:ext cx="43492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¿Qué incluye la propuesta?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dirty="0"/>
              <a:t>Hosting seguro en Render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dirty="0"/>
              <a:t>Código fuente 100% administrable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dirty="0"/>
              <a:t>Interfaz amigable para el cliente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dirty="0"/>
              <a:t>Control de proyectos y tareas por usuario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dirty="0"/>
              <a:t>Posibilidad de escalar a mayor tráfico</a:t>
            </a:r>
          </a:p>
        </p:txBody>
      </p:sp>
    </p:spTree>
    <p:extLst>
      <p:ext uri="{BB962C8B-B14F-4D97-AF65-F5344CB8AC3E}">
        <p14:creationId xmlns:p14="http://schemas.microsoft.com/office/powerpoint/2010/main" val="230532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811" y="160027"/>
            <a:ext cx="4254871" cy="577516"/>
          </a:xfrm>
        </p:spPr>
        <p:txBody>
          <a:bodyPr/>
          <a:lstStyle/>
          <a:p>
            <a:r>
              <a:rPr lang="es-CO" dirty="0"/>
              <a:t>Desarrollo por </a:t>
            </a:r>
            <a:r>
              <a:rPr lang="es-CO" dirty="0" err="1"/>
              <a:t>Sprints</a:t>
            </a:r>
            <a:r>
              <a:rPr lang="es-CO" dirty="0"/>
              <a:t> (Scrum)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7AC94B9-DD9C-40C6-AE60-A1842025A2B3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20</a:t>
            </a:r>
            <a:endParaRPr lang="es-419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0472E56-FAAB-4DB2-9AA9-24482C4058A5}"/>
              </a:ext>
            </a:extLst>
          </p:cNvPr>
          <p:cNvSpPr txBox="1"/>
          <p:nvPr/>
        </p:nvSpPr>
        <p:spPr>
          <a:xfrm>
            <a:off x="205810" y="737543"/>
            <a:ext cx="105125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Metodología utilizada: SCRUM</a:t>
            </a:r>
          </a:p>
          <a:p>
            <a:pPr algn="just"/>
            <a:endParaRPr lang="es-ES" dirty="0"/>
          </a:p>
          <a:p>
            <a:pPr algn="just"/>
            <a:r>
              <a:rPr lang="es-ES" dirty="0"/>
              <a:t>A diferencia de la metodología en cascada, Scrum nos permitió trabajar en iteraciones semanales llamadas sprints, lo que facilitó adaptarnos a cambios, probar funciones tempranas y corregir errores progresivamente.</a:t>
            </a:r>
          </a:p>
          <a:p>
            <a:pPr algn="just"/>
            <a:r>
              <a:rPr lang="es-ES" dirty="0"/>
              <a:t>Duración del proyecto: 12 de mayo – 11 de junio</a:t>
            </a:r>
          </a:p>
          <a:p>
            <a:pPr algn="just"/>
            <a:endParaRPr lang="es-ES" dirty="0"/>
          </a:p>
          <a:p>
            <a:pPr algn="just"/>
            <a:r>
              <a:rPr lang="es-CO" dirty="0"/>
              <a:t>Resumen Semanal por </a:t>
            </a:r>
            <a:r>
              <a:rPr lang="es-CO" dirty="0" err="1"/>
              <a:t>Sprints</a:t>
            </a:r>
            <a:r>
              <a:rPr lang="es-CO" dirty="0"/>
              <a:t>:</a:t>
            </a:r>
          </a:p>
          <a:p>
            <a:pPr algn="just"/>
            <a:endParaRPr lang="es-CO" dirty="0"/>
          </a:p>
          <a:p>
            <a:pPr algn="just"/>
            <a:endParaRPr lang="es-CO" dirty="0"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365A545-EC44-4020-A798-C2FF67ECA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911368"/>
              </p:ext>
            </p:extLst>
          </p:nvPr>
        </p:nvGraphicFramePr>
        <p:xfrm>
          <a:off x="202757" y="2840544"/>
          <a:ext cx="10515600" cy="3135265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890748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5773182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53907782"/>
                    </a:ext>
                  </a:extLst>
                </a:gridCol>
              </a:tblGrid>
              <a:tr h="313546">
                <a:tc>
                  <a:txBody>
                    <a:bodyPr/>
                    <a:lstStyle/>
                    <a:p>
                      <a:r>
                        <a:rPr lang="es-CO" sz="1600" b="1"/>
                        <a:t>Sprint</a:t>
                      </a:r>
                      <a:endParaRPr lang="es-CO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/>
                        <a:t>Fecha</a:t>
                      </a:r>
                      <a:endParaRPr lang="es-CO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/>
                        <a:t>Actividades realizadas</a:t>
                      </a:r>
                      <a:endParaRPr lang="es-CO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302412"/>
                  </a:ext>
                </a:extLst>
              </a:tr>
              <a:tr h="1254185">
                <a:tc>
                  <a:txBody>
                    <a:bodyPr/>
                    <a:lstStyle/>
                    <a:p>
                      <a:r>
                        <a:rPr lang="es-CO" sz="1600"/>
                        <a:t>Sprint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12 – 18 de mayo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600" dirty="0"/>
                        <a:t>- Reunión de planificación inicial- Definición del alcance del proyecto- Creación del modelo de datos y base de datos- Configuración inicial del entorno Django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3418248"/>
                  </a:ext>
                </a:extLst>
              </a:tr>
              <a:tr h="1489345">
                <a:tc>
                  <a:txBody>
                    <a:bodyPr/>
                    <a:lstStyle/>
                    <a:p>
                      <a:r>
                        <a:rPr lang="es-CO" sz="1600"/>
                        <a:t>Sprint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19 – 25 de mayo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ES" sz="1600" dirty="0"/>
                        <a:t>- Desarrollo del sistema de autenticación de usuarios (registro, </a:t>
                      </a:r>
                      <a:r>
                        <a:rPr lang="es-ES" sz="1600" dirty="0" err="1"/>
                        <a:t>login</a:t>
                      </a:r>
                      <a:r>
                        <a:rPr lang="es-ES" sz="1600" dirty="0"/>
                        <a:t>, 2FA)- Implementación de sesiones y control de acceso- Diseño inicial de las vistas y pruebas unitarias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923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579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811" y="160027"/>
            <a:ext cx="4191260" cy="468126"/>
          </a:xfrm>
        </p:spPr>
        <p:txBody>
          <a:bodyPr/>
          <a:lstStyle/>
          <a:p>
            <a:r>
              <a:rPr lang="es-CO" dirty="0"/>
              <a:t>Desarrollo por </a:t>
            </a:r>
            <a:r>
              <a:rPr lang="es-CO" dirty="0" err="1"/>
              <a:t>Sprints</a:t>
            </a:r>
            <a:r>
              <a:rPr lang="es-CO" dirty="0"/>
              <a:t> (Scrum)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7AC94B9-DD9C-40C6-AE60-A1842025A2B3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21</a:t>
            </a:r>
            <a:endParaRPr lang="es-419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B313393-D0AF-4297-A798-2A262686F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419055"/>
              </p:ext>
            </p:extLst>
          </p:nvPr>
        </p:nvGraphicFramePr>
        <p:xfrm>
          <a:off x="469231" y="840552"/>
          <a:ext cx="10511520" cy="5035463"/>
        </p:xfrm>
        <a:graphic>
          <a:graphicData uri="http://schemas.openxmlformats.org/drawingml/2006/table">
            <a:tbl>
              <a:tblPr/>
              <a:tblGrid>
                <a:gridCol w="3503840">
                  <a:extLst>
                    <a:ext uri="{9D8B030D-6E8A-4147-A177-3AD203B41FA5}">
                      <a16:colId xmlns:a16="http://schemas.microsoft.com/office/drawing/2014/main" val="2951473709"/>
                    </a:ext>
                  </a:extLst>
                </a:gridCol>
                <a:gridCol w="3503840">
                  <a:extLst>
                    <a:ext uri="{9D8B030D-6E8A-4147-A177-3AD203B41FA5}">
                      <a16:colId xmlns:a16="http://schemas.microsoft.com/office/drawing/2014/main" val="48065608"/>
                    </a:ext>
                  </a:extLst>
                </a:gridCol>
                <a:gridCol w="3503840">
                  <a:extLst>
                    <a:ext uri="{9D8B030D-6E8A-4147-A177-3AD203B41FA5}">
                      <a16:colId xmlns:a16="http://schemas.microsoft.com/office/drawing/2014/main" val="521843956"/>
                    </a:ext>
                  </a:extLst>
                </a:gridCol>
              </a:tblGrid>
              <a:tr h="310153">
                <a:tc>
                  <a:txBody>
                    <a:bodyPr/>
                    <a:lstStyle/>
                    <a:p>
                      <a:r>
                        <a:rPr lang="es-CO" sz="1400" b="1"/>
                        <a:t>Sprint</a:t>
                      </a:r>
                      <a:endParaRPr lang="es-CO" sz="1400"/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b="1"/>
                        <a:t>Fecha</a:t>
                      </a:r>
                      <a:endParaRPr lang="es-CO" sz="1400"/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b="1"/>
                        <a:t>Actividades realizadas</a:t>
                      </a:r>
                      <a:endParaRPr lang="es-CO" sz="1400"/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1591318"/>
                  </a:ext>
                </a:extLst>
              </a:tr>
              <a:tr h="1496044">
                <a:tc>
                  <a:txBody>
                    <a:bodyPr/>
                    <a:lstStyle/>
                    <a:p>
                      <a:r>
                        <a:rPr lang="es-CO" sz="1400"/>
                        <a:t>Sprint 3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26 de mayo – 1 de junio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s-ES" sz="1400" dirty="0"/>
                        <a:t>Creación del módulo de gestión de proyectos (CRUD)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s-ES" sz="1400" dirty="0"/>
                        <a:t>Asociación entre usuarios y proyectos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s-ES" sz="1400" dirty="0"/>
                        <a:t>Diseño responsivo con Bootstrap</a:t>
                      </a:r>
                    </a:p>
                    <a:p>
                      <a:pPr marL="285750" indent="-285750" algn="just">
                        <a:buFontTx/>
                        <a:buChar char="-"/>
                      </a:pPr>
                      <a:r>
                        <a:rPr lang="es-ES" sz="1400" dirty="0"/>
                        <a:t>Integración de navbar dinámico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2584679"/>
                  </a:ext>
                </a:extLst>
              </a:tr>
              <a:tr h="1733222">
                <a:tc>
                  <a:txBody>
                    <a:bodyPr/>
                    <a:lstStyle/>
                    <a:p>
                      <a:r>
                        <a:rPr lang="es-CO" sz="1400"/>
                        <a:t>Sprint 4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/>
                        <a:t>2 – 6 de junio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" sz="1400" dirty="0"/>
                        <a:t>Sistema de asignación de tareas por proyecto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" sz="1400" dirty="0"/>
                        <a:t>Funcionalidades de edición y tachado-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" sz="1400" dirty="0"/>
                        <a:t>Organización del frontend con acordeones y formularios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" sz="1400" dirty="0"/>
                        <a:t>Revisión de requerimientos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428005"/>
                  </a:ext>
                </a:extLst>
              </a:tr>
              <a:tr h="1496044">
                <a:tc>
                  <a:txBody>
                    <a:bodyPr/>
                    <a:lstStyle/>
                    <a:p>
                      <a:r>
                        <a:rPr lang="es-CO" sz="1400"/>
                        <a:t>Sprint 5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/>
                        <a:t>7 – 11 de junio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ES" sz="1400" dirty="0"/>
                        <a:t>Pruebas finales y corrección de errores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" sz="1400" dirty="0"/>
                        <a:t>Mejora de experiencia de usuario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" sz="1400" dirty="0"/>
                        <a:t>Implementación de protección de rutas y errores 404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ES" sz="1400" dirty="0"/>
                        <a:t>Preparación de presentación y costos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982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419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CONCLUSIONES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7AC94B9-DD9C-40C6-AE60-A1842025A2B3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22</a:t>
            </a:r>
            <a:endParaRPr lang="es-419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4E715C8-1040-48A7-885D-5D59261116A7}"/>
              </a:ext>
            </a:extLst>
          </p:cNvPr>
          <p:cNvSpPr txBox="1"/>
          <p:nvPr/>
        </p:nvSpPr>
        <p:spPr>
          <a:xfrm>
            <a:off x="205811" y="857613"/>
            <a:ext cx="1096577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Conclusión 1: </a:t>
            </a:r>
          </a:p>
          <a:p>
            <a:endParaRPr lang="es-ES" dirty="0"/>
          </a:p>
          <a:p>
            <a:pPr algn="just"/>
            <a:r>
              <a:rPr lang="es-ES" dirty="0"/>
              <a:t>La implementación de este proyecto demostró cómo mediante una metodología ágil como Scrum, es posible organizar el trabajo de manera efectiva, iterar sobre funcionalidades clave, y entregar un producto funcional en corto tiempo. Además, el sistema desarrollado refleja una solución realista, escalable y adaptable a las necesidades de gestión de proyectos tanto personales como empresariales.</a:t>
            </a:r>
          </a:p>
          <a:p>
            <a:endParaRPr lang="es-ES" dirty="0"/>
          </a:p>
          <a:p>
            <a:r>
              <a:rPr lang="es-ES" dirty="0"/>
              <a:t>Conclusión 2: </a:t>
            </a:r>
          </a:p>
          <a:p>
            <a:endParaRPr lang="es-ES" dirty="0"/>
          </a:p>
          <a:p>
            <a:pPr algn="just"/>
            <a:r>
              <a:rPr lang="es-ES" dirty="0"/>
              <a:t>Esta aplicación no solo sirve como evidencia del dominio técnico alcanzado, sino también como una propuesta con valor comercial, al integrar funcionalidades útiles como autenticación segura, gestión colaborativa de tareas y despliegue en la nube. Su presentación estructurada y evaluación de costos muestran que es un producto viable para ofrecer a empresas o equipos profesionales.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419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84F88-339B-4202-995B-FB8695F8D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Referencias</a:t>
            </a:r>
            <a:br>
              <a:rPr lang="es-CO" dirty="0"/>
            </a:br>
            <a:endParaRPr lang="es-CO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C4D6B23-F455-4D88-8449-B69820CC8101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23</a:t>
            </a:r>
            <a:endParaRPr lang="es-419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1735C94-9A2B-4511-B049-F98C0B425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116" y="652308"/>
            <a:ext cx="8629154" cy="5502002"/>
          </a:xfrm>
        </p:spPr>
        <p:txBody>
          <a:bodyPr/>
          <a:lstStyle/>
          <a:p>
            <a:pPr marL="228600" indent="-228600">
              <a:buAutoNum type="arabicPeriod"/>
            </a:pPr>
            <a:r>
              <a:rPr lang="es-ES" sz="1400" b="1" dirty="0"/>
              <a:t>Metodología Scrum</a:t>
            </a:r>
          </a:p>
          <a:p>
            <a:r>
              <a:rPr lang="es-ES" sz="1400" u="sng" dirty="0"/>
              <a:t>Guía oficial de Scrum:</a:t>
            </a:r>
            <a:r>
              <a:rPr lang="es-ES" sz="1400" dirty="0"/>
              <a:t> https://scrumguides.org/scrum-guide.html</a:t>
            </a:r>
          </a:p>
          <a:p>
            <a:r>
              <a:rPr lang="es-ES" sz="1400" u="sng" dirty="0"/>
              <a:t>Introducción práctica a Scrum (</a:t>
            </a:r>
            <a:r>
              <a:rPr lang="es-ES" sz="1400" u="sng" dirty="0" err="1"/>
              <a:t>Atlassian</a:t>
            </a:r>
            <a:r>
              <a:rPr lang="es-ES" sz="1400" u="sng" dirty="0"/>
              <a:t>):</a:t>
            </a:r>
            <a:r>
              <a:rPr lang="es-ES" sz="1400" dirty="0"/>
              <a:t> https://www.atlassian.com/agile/scrum </a:t>
            </a:r>
          </a:p>
          <a:p>
            <a:r>
              <a:rPr lang="es-ES" sz="1400" dirty="0"/>
              <a:t>2. </a:t>
            </a:r>
            <a:r>
              <a:rPr lang="es-ES" sz="1400" b="1" dirty="0"/>
              <a:t>Render – Planes y precios</a:t>
            </a:r>
          </a:p>
          <a:p>
            <a:r>
              <a:rPr lang="es-ES" sz="1400" u="sng" dirty="0"/>
              <a:t>Página oficial de precios de Render (usada para la diapositiva de costos):</a:t>
            </a:r>
            <a:r>
              <a:rPr lang="es-ES" sz="1400" dirty="0"/>
              <a:t> </a:t>
            </a:r>
            <a:r>
              <a:rPr lang="es-ES" sz="1400" dirty="0">
                <a:hlinkClick r:id="rId2"/>
              </a:rPr>
              <a:t>https://render.com/pricing</a:t>
            </a:r>
            <a:endParaRPr lang="es-ES" sz="1400" dirty="0"/>
          </a:p>
          <a:p>
            <a:r>
              <a:rPr lang="es-ES" sz="1400" u="sng" dirty="0"/>
              <a:t>Detalles sobre características de cada plan:</a:t>
            </a:r>
            <a:r>
              <a:rPr lang="es-ES" sz="1400" dirty="0"/>
              <a:t> https://render.com/docs </a:t>
            </a:r>
          </a:p>
          <a:p>
            <a:r>
              <a:rPr lang="es-ES" sz="1400" dirty="0"/>
              <a:t>3. </a:t>
            </a:r>
            <a:r>
              <a:rPr lang="es-ES" sz="1400" b="1" dirty="0"/>
              <a:t>Tecnologías usadas</a:t>
            </a:r>
          </a:p>
          <a:p>
            <a:r>
              <a:rPr lang="es-ES" sz="1400" u="sng" dirty="0"/>
              <a:t>Django (</a:t>
            </a:r>
            <a:r>
              <a:rPr lang="es-ES" sz="1400" u="sng" dirty="0" err="1"/>
              <a:t>framework</a:t>
            </a:r>
            <a:r>
              <a:rPr lang="es-ES" sz="1400" u="sng" dirty="0"/>
              <a:t> </a:t>
            </a:r>
            <a:r>
              <a:rPr lang="es-ES" sz="1400" u="sng" dirty="0" err="1"/>
              <a:t>backend</a:t>
            </a:r>
            <a:r>
              <a:rPr lang="es-ES" sz="1400" u="sng" dirty="0"/>
              <a:t>):</a:t>
            </a:r>
            <a:r>
              <a:rPr lang="es-ES" sz="1400" dirty="0"/>
              <a:t> https://www.djangoproject.com/</a:t>
            </a:r>
          </a:p>
          <a:p>
            <a:r>
              <a:rPr lang="es-ES" sz="1400" u="sng" dirty="0"/>
              <a:t>Bootstrap (</a:t>
            </a:r>
            <a:r>
              <a:rPr lang="es-ES" sz="1400" u="sng" dirty="0" err="1"/>
              <a:t>framework</a:t>
            </a:r>
            <a:r>
              <a:rPr lang="es-ES" sz="1400" u="sng" dirty="0"/>
              <a:t> de estilos):</a:t>
            </a:r>
            <a:r>
              <a:rPr lang="es-ES" sz="1400" dirty="0"/>
              <a:t> https://getbootstrap.com/</a:t>
            </a:r>
          </a:p>
          <a:p>
            <a:r>
              <a:rPr lang="es-ES" sz="1400" u="sng" dirty="0"/>
              <a:t>HTML y CSS (lenguajes base de interfaz): </a:t>
            </a:r>
            <a:r>
              <a:rPr lang="es-ES" sz="1400" dirty="0"/>
              <a:t>https://developer.mozilla.org/es/docs/Web/HTMLhttps://developer.mozilla.org/es/docs/Web/CSS </a:t>
            </a:r>
          </a:p>
          <a:p>
            <a:r>
              <a:rPr lang="es-ES" sz="1400" dirty="0"/>
              <a:t>4. </a:t>
            </a:r>
            <a:r>
              <a:rPr lang="es-ES" sz="1400" b="1" dirty="0"/>
              <a:t>Seguridad y autenticación</a:t>
            </a:r>
          </a:p>
          <a:p>
            <a:r>
              <a:rPr lang="es-ES" sz="1400" u="sng" dirty="0"/>
              <a:t>Django </a:t>
            </a:r>
            <a:r>
              <a:rPr lang="es-ES" sz="1400" u="sng" dirty="0" err="1"/>
              <a:t>authentication</a:t>
            </a:r>
            <a:r>
              <a:rPr lang="es-ES" sz="1400" u="sng" dirty="0"/>
              <a:t> </a:t>
            </a:r>
            <a:r>
              <a:rPr lang="es-ES" sz="1400" u="sng" dirty="0" err="1"/>
              <a:t>system</a:t>
            </a:r>
            <a:r>
              <a:rPr lang="es-ES" sz="1400" u="sng" dirty="0"/>
              <a:t>:</a:t>
            </a:r>
            <a:r>
              <a:rPr lang="es-ES" sz="1400" dirty="0"/>
              <a:t> https://docs.djangoproject.com/en/stable/topics/auth/</a:t>
            </a:r>
          </a:p>
          <a:p>
            <a:r>
              <a:rPr lang="es-ES" sz="1400" u="sng" dirty="0"/>
              <a:t>Código 2FA (verificación en dos pasos):</a:t>
            </a:r>
            <a:r>
              <a:rPr lang="es-ES" sz="1400" dirty="0"/>
              <a:t> Implementación basada en envío de correos SMTP con Django </a:t>
            </a:r>
            <a:r>
              <a:rPr lang="es-ES" sz="1400" dirty="0" err="1"/>
              <a:t>send_mail</a:t>
            </a:r>
            <a:r>
              <a:rPr lang="es-ES" sz="1400" dirty="0"/>
              <a:t> </a:t>
            </a:r>
          </a:p>
          <a:p>
            <a:r>
              <a:rPr lang="es-ES" sz="1400" dirty="0"/>
              <a:t>5. </a:t>
            </a:r>
            <a:r>
              <a:rPr lang="es-ES" sz="1400" b="1" dirty="0"/>
              <a:t>Costos empresariales (referencia comercial)</a:t>
            </a:r>
          </a:p>
          <a:p>
            <a:r>
              <a:rPr lang="es-ES" sz="1400" u="sng" dirty="0"/>
              <a:t>Estimación de costos de mantenimiento en software:</a:t>
            </a:r>
            <a:r>
              <a:rPr lang="es-ES" sz="1400" dirty="0"/>
              <a:t> https://blog.capterra.com/how-much-does-software-maintenance-cost/</a:t>
            </a:r>
          </a:p>
          <a:p>
            <a:r>
              <a:rPr lang="es-ES" sz="1400" u="sng" dirty="0"/>
              <a:t>¿Cuánto cuesta desarrollar una aplicación web?:</a:t>
            </a:r>
            <a:r>
              <a:rPr lang="es-ES" sz="1400" dirty="0"/>
              <a:t> https://www.goodfirms.co/app-development-cost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1075781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3CD74B6-2E24-4729-B1F4-DC5BCD0BE5CD}"/>
              </a:ext>
            </a:extLst>
          </p:cNvPr>
          <p:cNvSpPr/>
          <p:nvPr/>
        </p:nvSpPr>
        <p:spPr>
          <a:xfrm>
            <a:off x="-12032" y="6280484"/>
            <a:ext cx="481263" cy="577516"/>
          </a:xfrm>
          <a:prstGeom prst="rect">
            <a:avLst/>
          </a:prstGeom>
          <a:solidFill>
            <a:srgbClr val="AD3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24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736546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18896</TotalTime>
  <Words>1246</Words>
  <Application>Microsoft Office PowerPoint</Application>
  <PresentationFormat>Panorámica</PresentationFormat>
  <Paragraphs>193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Tema de Office</vt:lpstr>
      <vt:lpstr>Gestión de Proyectos</vt:lpstr>
      <vt:lpstr>Tabla de contenido</vt:lpstr>
      <vt:lpstr>1. Introducción</vt:lpstr>
      <vt:lpstr>2. Planteamiento del problema</vt:lpstr>
      <vt:lpstr>3. Justificación</vt:lpstr>
      <vt:lpstr>4. Metodología</vt:lpstr>
      <vt:lpstr>4.1 Diagramas</vt:lpstr>
      <vt:lpstr>4.1.2 Diagramas</vt:lpstr>
      <vt:lpstr>4.1.3 Diagramas</vt:lpstr>
      <vt:lpstr>RESULTADOS </vt:lpstr>
      <vt:lpstr>RESULTADOS </vt:lpstr>
      <vt:lpstr>RESULTADOS </vt:lpstr>
      <vt:lpstr>RESULTADOS </vt:lpstr>
      <vt:lpstr>RESULTADOS </vt:lpstr>
      <vt:lpstr>RESULTADOS </vt:lpstr>
      <vt:lpstr>RESULTADOS </vt:lpstr>
      <vt:lpstr>RESULTADOS </vt:lpstr>
      <vt:lpstr>Presupuesto del Proyecto y Oferta Comercial</vt:lpstr>
      <vt:lpstr>Presupuesto del Proyecto y Oferta Comercial</vt:lpstr>
      <vt:lpstr>Desarrollo por Sprints (Scrum)</vt:lpstr>
      <vt:lpstr>Desarrollo por Sprints (Scrum)</vt:lpstr>
      <vt:lpstr>CONCLUSIONES</vt:lpstr>
      <vt:lpstr>Referencias </vt:lpstr>
      <vt:lpstr>Presentación de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Aramirezp</dc:creator>
  <cp:lastModifiedBy>Joshua Zair Carrascal Chacón</cp:lastModifiedBy>
  <cp:revision>2299</cp:revision>
  <cp:lastPrinted>2017-04-25T23:06:26Z</cp:lastPrinted>
  <dcterms:created xsi:type="dcterms:W3CDTF">2017-03-31T14:04:32Z</dcterms:created>
  <dcterms:modified xsi:type="dcterms:W3CDTF">2025-12-02T23:34:52Z</dcterms:modified>
</cp:coreProperties>
</file>